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28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explaining that this milestone is not simply a collection of charts; it is an environmental-risk intelligence workflow that moves from measurement and detection to evidence quality and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six-stage storyline. Emphasize that each dashboard answers a different decision question and feeds the next one, avoiding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establish the guardrails. The key milestone finding is that completeness differs sharply by pollutant, which later shapes the confidence and action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“We start with the national picture. The purpose is orientation, not diagnosis. This dashboard tells us what is happening before we narrow the field.”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“The hotspot dashboard narrows the problem spatially. The key output is a shortlist of locations and states that deserve deeper contextual analysis.”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“Dashboard 3 is the explain stage. We compare contexts and seasons and use the decomposition tree to drill from state to location and year. We deliberately avoid causal claims.”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“Dashboard 4 is where the time dimension becomes central. For the final version, the trend and state comparisons must use average concentration and the long-coverage pollutants.”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“This dashboard changes the question. Before action, we ask how strong the evidence is. SPM is the clearest example of why confidence has to be visible.”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“The final page does not pretend the dataset proves causality. It provides a disciplined route from hotspot to validation to targeted intervention and monitoring.”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65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AIR POLLUTION • MILESTONE REVIEW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378440" y="66065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SEP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5072" cy="6565392"/>
          </a:xfrm>
          <a:prstGeom prst="rect">
            <a:avLst/>
          </a:prstGeom>
          <a:solidFill>
            <a:srgbClr val="5D9F91">
              <a:alpha val="60000"/>
            </a:srgbClr>
          </a:solidFill>
          <a:ln w="12700">
            <a:solidFill>
              <a:srgbClr val="5D9F9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53312"/>
            <a:ext cx="6309360" cy="0"/>
          </a:xfrm>
          <a:prstGeom prst="line">
            <a:avLst/>
          </a:prstGeom>
          <a:noFill/>
          <a:ln w="38100">
            <a:solidFill>
              <a:srgbClr val="BF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INDIA AIR POLLUTION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1762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FD8D0"/>
                </a:solidFill>
              </a:rPr>
              <a:t>Milestone Presentation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94944" y="288950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From pollution measurement to evidence-based intervention priorities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" y="3858768"/>
            <a:ext cx="3291840" cy="256032"/>
          </a:xfrm>
          <a:prstGeom prst="roundRect">
            <a:avLst>
              <a:gd name="adj" fmla="val 21429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390906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POWER BI • ENVIRONMENTAL RISK INTELLIGENCE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3232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BFD8D0"/>
                </a:solidFill>
              </a:rPr>
              <a:t>Milestone 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49560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Five-dashboard narrative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 → Assess → Explain → Secure → 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5989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8D0"/>
                </a:solidFill>
              </a:rPr>
              <a:t>03 September 2026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1209FA-B713-422C-BC3C-C7AA2F6A1219}"/>
              </a:ext>
            </a:extLst>
          </p:cNvPr>
          <p:cNvSpPr txBox="1"/>
          <p:nvPr/>
        </p:nvSpPr>
        <p:spPr>
          <a:xfrm>
            <a:off x="5860472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351C22-A3E3-4162-84A7-1C85B625C190}"/>
              </a:ext>
            </a:extLst>
          </p:cNvPr>
          <p:cNvSpPr txBox="1"/>
          <p:nvPr/>
        </p:nvSpPr>
        <p:spPr>
          <a:xfrm>
            <a:off x="8537171" y="4873752"/>
            <a:ext cx="2693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Team 3 </a:t>
            </a: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Rushikesh Shirwalkar</a:t>
            </a: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Ajay </a:t>
            </a:r>
            <a:r>
              <a:rPr lang="en-IN" dirty="0" err="1">
                <a:solidFill>
                  <a:schemeClr val="bg2">
                    <a:lumMod val="90000"/>
                  </a:schemeClr>
                </a:solidFill>
              </a:rPr>
              <a:t>Seepana</a:t>
            </a:r>
            <a:endParaRPr lang="en-IN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Rakesh </a:t>
            </a:r>
            <a:r>
              <a:rPr lang="en-IN" dirty="0" err="1">
                <a:solidFill>
                  <a:schemeClr val="bg2">
                    <a:lumMod val="90000"/>
                  </a:schemeClr>
                </a:solidFill>
              </a:rPr>
              <a:t>Bommala</a:t>
            </a:r>
            <a:endParaRPr lang="en-IN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is designed as one decision story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Six dashboards • one continuous narrative from situational awareness to action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" y="1463041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What is happening?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India Environmental Risk Overview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SITUATIONAL AWARENESS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2267712" y="1964297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32888" y="1463041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Where is the burden concentrated?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743200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Pollution Risk Landscape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743200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HOTSPOT DETECTION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361688" y="1966791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53712" y="1472183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36592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What context is associated with higher pollution?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4736592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Industrial &amp; Urban Risk Profile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36592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RISK CONTEXT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373368" y="1966791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56248" y="1481328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9984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9984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How is pollution changing?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729984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Historical Pollution Risk &amp; Escalation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729984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THREAT TRAJECTORY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8430768" y="198424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13648" y="1481328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23376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23376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How strong is the evidence?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8723376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Environmental Risk &amp; Decision Security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723376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CONFIDENCE / UNCERTAINTY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0306119" y="1966791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542202" y="1481328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716768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D8D0"/>
                </a:solidFill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51930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</a:rPr>
              <a:t>What realistic interventions should be considered?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10668712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</a:rPr>
              <a:t>Pollution Reduction Strategy &amp; Action Plan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10716768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BFD8D0"/>
                </a:solidFill>
              </a:rPr>
              <a:t>DECISION &amp; ACTION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658368" y="3127248"/>
            <a:ext cx="3547872" cy="1993392"/>
          </a:xfrm>
          <a:prstGeom prst="roundRect">
            <a:avLst>
              <a:gd name="adj" fmla="val 2752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3127248"/>
            <a:ext cx="73152" cy="1993392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3255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DETECT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" y="3511296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Establish the national situation and identify where the burden is concentrated.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Dashboards 1–2 convert a large monitoring dataset into a focused risk landscape.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25112" y="3127248"/>
            <a:ext cx="3547872" cy="1993392"/>
          </a:xfrm>
          <a:prstGeom prst="roundRect">
            <a:avLst>
              <a:gd name="adj" fmla="val 2752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25112" y="3127248"/>
            <a:ext cx="73152" cy="1993392"/>
          </a:xfrm>
          <a:prstGeom prst="rect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9704" y="3255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EXPLAIN + TRACK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89704" y="3511296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Use area type, state, season and long-term trends to explain differences and track escalation.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Dashboards 3–4 provide context and trajectory.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91856" y="3127248"/>
            <a:ext cx="3547872" cy="1993392"/>
          </a:xfrm>
          <a:prstGeom prst="roundRect">
            <a:avLst>
              <a:gd name="adj" fmla="val 2752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91856" y="3127248"/>
            <a:ext cx="73152" cy="1993392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56448" y="3255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SECURE + ACT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56448" y="3511296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Make uncertainty visible before turning evidence into candidate interventions and decision priorities.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Dashboards 5–6 protect decision quality.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4944" y="5431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D9F91"/>
                </a:solidFill>
              </a:rPr>
              <a:t>Narrative spine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856232" y="54041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A66"/>
                </a:solidFill>
              </a:rPr>
              <a:t>What → Where → Context → Change → Confidence → Action</a:t>
            </a:r>
            <a:endParaRPr lang="en-US" sz="15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foundation and analytical guardrails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The milestone is built on a cleaned monitoring dataset and a deliberately conservative analytical framework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1115568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636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RECORDS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04672" y="180136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432K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0360" y="1417320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80360" y="1417320"/>
            <a:ext cx="64008" cy="1115568"/>
          </a:xfrm>
          <a:prstGeom prst="rect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5636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LOCATIONS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044952" y="180136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301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1417320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1417320"/>
            <a:ext cx="64008" cy="1115568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5636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STATES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5285232" y="180136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34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60920" y="1417320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1417320"/>
            <a:ext cx="64008" cy="1115568"/>
          </a:xfrm>
          <a:prstGeom prst="rect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25512" y="15636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COVERAGE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525512" y="180136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1987–2015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01200" y="141732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0" y="1417320"/>
            <a:ext cx="64008" cy="1115568"/>
          </a:xfrm>
          <a:prstGeom prst="rect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1563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OVERALL COMPLETENESS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9765792" y="180136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86.1%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CORE ANALYTICAL RULES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3232" y="331012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24612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SO₂, NO₂, RSPM and SPM form the main long-coverage pollutant story.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" y="381304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74904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PM2.5 is treated as a limited-coverage supporting indicator, not the historical backbone.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" y="431596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25196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Average concentration is used for pollutant intensity; concentrations are never summed.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" y="481888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75488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Unknown values are retained when they cannot be reliably inferred.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" y="5321808"/>
            <a:ext cx="82296" cy="82296"/>
          </a:xfrm>
          <a:prstGeom prst="ellipse">
            <a:avLst/>
          </a:prstGeom>
          <a:solidFill>
            <a:srgbClr val="B66A60"/>
          </a:solidFill>
          <a:ln w="12700">
            <a:solidFill>
              <a:srgbClr val="B66A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25780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stn_code is not used for station metrics until explicitly validated.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2907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CURRENT EVIDENCE SIGNAL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19088" y="3200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NO₂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14032" y="3218688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DCE5D7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14032" y="3218688"/>
            <a:ext cx="3108338" cy="237744"/>
          </a:xfrm>
          <a:prstGeom prst="roundRect">
            <a:avLst>
              <a:gd name="adj" fmla="val 19231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69296" y="3200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5323A"/>
                </a:solidFill>
              </a:rPr>
              <a:t>99.98%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10972800" y="32278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5D9F91"/>
                </a:solidFill>
              </a:rPr>
              <a:t>STRONG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6419088" y="3767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SO₂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14032" y="3785616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DCE5D7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4032" y="3785616"/>
            <a:ext cx="3108338" cy="237744"/>
          </a:xfrm>
          <a:prstGeom prst="roundRect">
            <a:avLst>
              <a:gd name="adj" fmla="val 19231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69296" y="37673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5323A"/>
                </a:solidFill>
              </a:rPr>
              <a:t>99.98%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10972800" y="3794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5D9F91"/>
                </a:solidFill>
              </a:rPr>
              <a:t>STRONG</a:t>
            </a:r>
            <a:endParaRPr lang="en-US" sz="690" dirty="0"/>
          </a:p>
        </p:txBody>
      </p:sp>
      <p:sp>
        <p:nvSpPr>
          <p:cNvPr id="47" name="Text 45"/>
          <p:cNvSpPr/>
          <p:nvPr/>
        </p:nvSpPr>
        <p:spPr>
          <a:xfrm>
            <a:off x="6419088" y="43342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RSPM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14032" y="4352544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DCE5D7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4032" y="4352544"/>
            <a:ext cx="3064813" cy="237744"/>
          </a:xfrm>
          <a:prstGeom prst="roundRect">
            <a:avLst>
              <a:gd name="adj" fmla="val 19231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69296" y="43342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5323A"/>
                </a:solidFill>
              </a:rPr>
              <a:t>98.58%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10972800" y="43616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5D9F91"/>
                </a:solidFill>
              </a:rPr>
              <a:t>STRONG</a:t>
            </a:r>
            <a:endParaRPr lang="en-US" sz="690" dirty="0"/>
          </a:p>
        </p:txBody>
      </p:sp>
      <p:sp>
        <p:nvSpPr>
          <p:cNvPr id="52" name="Text 50"/>
          <p:cNvSpPr/>
          <p:nvPr/>
        </p:nvSpPr>
        <p:spPr>
          <a:xfrm>
            <a:off x="6419088" y="49011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SPM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114032" y="4919472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DCE5D7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4032" y="4919472"/>
            <a:ext cx="1424836" cy="237744"/>
          </a:xfrm>
          <a:prstGeom prst="roundRect">
            <a:avLst>
              <a:gd name="adj" fmla="val 19231"/>
            </a:avLst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69296" y="49011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5323A"/>
                </a:solidFill>
              </a:rPr>
              <a:t>45.83%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10972800" y="49286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C79A4A"/>
                </a:solidFill>
              </a:rPr>
              <a:t>LIMITED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6400800" y="544068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0" y="5440680"/>
            <a:ext cx="73152" cy="713232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65392" y="5568696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WHY THIS MATTERS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65392" y="5824728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Strong evidence for SO₂, NO₂ and RSPM supports interpretation; substantially lower SPM completeness increases decision caution.</a:t>
            </a:r>
            <a:endParaRPr lang="en-US" sz="95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• India Environmental Risk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Situational awareness: establish the national pollution picture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7498080" cy="4873752"/>
          </a:xfrm>
          <a:prstGeom prst="roundRect">
            <a:avLst>
              <a:gd name="adj" fmla="val 11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9-03 1854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84109"/>
            <a:ext cx="7388352" cy="4157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7888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WHAT THIS DASHBOARD ESTABLISHES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47888" y="180136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03336" y="17373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National monitoring scale: ~432K records, 301 locations, 34 states.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47888" y="257860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03336" y="25146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High-level pollutant and seasonal views create a national starting point.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247888" y="335584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03336" y="32918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Interactive year, state and season filters support situational exploration.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247888" y="41605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47888" y="4160520"/>
            <a:ext cx="73152" cy="1325880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4288536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MILESTONE MESSAGE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12480" y="4544568"/>
            <a:ext cx="30815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We begin broad: before asking where to act, establish the scale and shape of the pollution problem.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47888" y="5696712"/>
            <a:ext cx="2331720" cy="256032"/>
          </a:xfrm>
          <a:prstGeom prst="roundRect">
            <a:avLst>
              <a:gd name="adj" fmla="val 21429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47888" y="574700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SITUATIONAL AWARENESS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• Pollution Risk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Hotspot detection: move from national picture to geographic concentration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7543800" cy="490118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f272a522-b461-44d6-9bc6-e691856fb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86710"/>
            <a:ext cx="7434072" cy="41795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HOW THE STORY MOVES FORWARD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181965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5048" y="17556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The map shifts the question from “what?” to “where?”.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29600" y="255117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5048" y="24871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State-level ranking highlights where observation burden is concentrated.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229600" y="328269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5048" y="32186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Location-level ranking provides the bridge to contextual analysis.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229600" y="411480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4114800"/>
            <a:ext cx="73152" cy="1417320"/>
          </a:xfrm>
          <a:prstGeom prst="rect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424281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NEXT QUESTION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4498848"/>
            <a:ext cx="31272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Once hotspots are identified, Dashboard 3 asks what context is associated with higher pollution.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0" y="5687568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57378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HOTSPOT DETECTION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• Industrial &amp; Urban Risk Profile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Context: explain why pollution patterns differ across area type, geography and season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CORE VISUAL LOGIC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7D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28800"/>
            <a:ext cx="100584" cy="640080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D9F91"/>
                </a:solidFill>
              </a:rPr>
              <a:t>AREA TYPE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38528" y="19385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3A66"/>
                </a:solidFill>
              </a:rPr>
              <a:t>Industrial • Residential • Sensitive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80944" y="24414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8B5B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2688336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7D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88336"/>
            <a:ext cx="100584" cy="640080"/>
          </a:xfrm>
          <a:prstGeom prst="rect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807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D9F91"/>
                </a:solidFill>
              </a:rPr>
              <a:t>STATE × TYPE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38528" y="279806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3A66"/>
                </a:solidFill>
              </a:rPr>
              <a:t>Where combinations stand 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80944" y="33009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8B5B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3547872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7D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547872"/>
            <a:ext cx="100584" cy="640080"/>
          </a:xfrm>
          <a:prstGeom prst="rect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6667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D9F91"/>
                </a:solidFill>
              </a:rPr>
              <a:t>SEASON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38528" y="36576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3A66"/>
                </a:solidFill>
              </a:rPr>
              <a:t>Winter • Summer • Monsoon • Post-Monsoon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80944" y="41605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8B5B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4407408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7D6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407408"/>
            <a:ext cx="100584" cy="640080"/>
          </a:xfrm>
          <a:prstGeom prst="rect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D9F91"/>
                </a:solidFill>
              </a:rPr>
              <a:t>DRILL-DOWN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38528" y="45171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3A66"/>
                </a:solidFill>
              </a:rPr>
              <a:t>State → Type → Season → Location → Year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1417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WHAT THE DASHBOARD CONTRIBUTES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08192" y="1874520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810512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323A"/>
                </a:solidFill>
              </a:rPr>
              <a:t>Area-type comparison answers “what context is associated with higher pollution?”.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08192" y="2551176"/>
            <a:ext cx="82296" cy="82296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487168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323A"/>
                </a:solidFill>
              </a:rPr>
              <a:t>State × type heatmap identifies combinations that stand out.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108192" y="3227832"/>
            <a:ext cx="82296" cy="82296"/>
          </a:xfrm>
          <a:prstGeom prst="ellipse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16382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323A"/>
                </a:solidFill>
              </a:rPr>
              <a:t>Seasonal profile exposes recurring contextual patterns.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108192" y="3904488"/>
            <a:ext cx="82296" cy="82296"/>
          </a:xfrm>
          <a:prstGeom prst="ellipse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84048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323A"/>
                </a:solidFill>
              </a:rPr>
              <a:t>Decomposition Tree provides interactive drill-down rather than another simple ranking.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108192" y="4709160"/>
            <a:ext cx="5074920" cy="1033272"/>
          </a:xfrm>
          <a:prstGeom prst="roundRect">
            <a:avLst>
              <a:gd name="adj" fmla="val 5310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4709160"/>
            <a:ext cx="73152" cy="1033272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4837176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PRESENTATION LINE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72784" y="5093208"/>
            <a:ext cx="48188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“We are not claiming causation; we are identifying the contexts associated with higher pollution so later actions can be targeted responsibly.”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08192" y="587044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592074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RISK CONTEXT</a:t>
            </a:r>
            <a:endParaRPr lang="en-US" sz="7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• Historical Pollution Risk &amp; Escalation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Trajectory: use long-term patterns to distinguish persistence from short-term variation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7543800" cy="490118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9-03 185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84119"/>
            <a:ext cx="7434072" cy="41847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53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WHAT THIS DASHBOARD IS MEANT TO ANSWER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181965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5048" y="175564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23A"/>
                </a:solidFill>
              </a:rPr>
              <a:t>How has the selected long-coverage pollutant changed over time?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0" y="255117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5048" y="24871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23A"/>
                </a:solidFill>
              </a:rPr>
              <a:t>Which states show stronger or more persistent trajectories?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328269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5048" y="321868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23A"/>
                </a:solidFill>
              </a:rPr>
              <a:t>Which seasons recur as high-intensity combinations?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4096512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4096512"/>
            <a:ext cx="73152" cy="1417320"/>
          </a:xfrm>
          <a:prstGeom prst="rect">
            <a:avLst/>
          </a:prstGeom>
          <a:solidFill>
            <a:srgbClr val="B66A60"/>
          </a:solidFill>
          <a:ln w="12700">
            <a:solidFill>
              <a:srgbClr val="B66A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422452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VALIDATION NOTE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4480560"/>
            <a:ext cx="31272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The current visual is a milestone draft. Historical trend measures and axes should be validated to ensure averages—not summed concentrations—drive the final story.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0" y="570585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B66A60"/>
          </a:solidFill>
          <a:ln w="12700">
            <a:solidFill>
              <a:srgbClr val="B66A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575614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THREAT TRAJECTORY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• Environmental Risk &amp; Decision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Confidence: make data coverage and uncertainty visible before recommending action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7543800" cy="490118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51565d44-7866-4a88-9c79-b1fd76f96a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07703"/>
            <a:ext cx="7434072" cy="41375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CURRENT EVIDENCE SIGNAL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181965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5048" y="17556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Overall data completeness: 86.1%.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29600" y="255117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5048" y="24871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NO₂ 99.98%, SO₂ 99.98%, RSPM 98.58% completeness.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229600" y="3282696"/>
            <a:ext cx="82296" cy="82296"/>
          </a:xfrm>
          <a:prstGeom prst="ellipse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5048" y="32186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SPM 45.83% completeness → materially weaker evidence base.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229600" y="4041648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4041648"/>
            <a:ext cx="73152" cy="1554480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416966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DECISION SECURITY INSIGHT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4425696"/>
            <a:ext cx="31272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High pollution with weaker data availability should trigger validation and caution—not a claim of physical-security threat.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0" y="5705856"/>
            <a:ext cx="1965960" cy="256032"/>
          </a:xfrm>
          <a:prstGeom prst="roundRect">
            <a:avLst>
              <a:gd name="adj" fmla="val 21429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57561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EVIDENCE CONFIDENCE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• Pollution Reduction Strategy &amp; Action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Action: convert hotspots, context and evidence quality into candidate interventions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7543800" cy="490118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e587f2bf-2247-4495-acae-dadf3bd1d8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12894"/>
            <a:ext cx="7434072" cy="41271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53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ACTION FRAMEWORK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47888" y="1737360"/>
            <a:ext cx="347472" cy="347472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47888" y="18059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17282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3A66"/>
                </a:solidFill>
              </a:rPr>
              <a:t>PRIORITIZE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73252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5323A"/>
                </a:solidFill>
              </a:rPr>
              <a:t>Focus attention on high-pollution hotspots.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8247888" y="2514600"/>
            <a:ext cx="347472" cy="347472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7888" y="25831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732520" y="25054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3A66"/>
                </a:solidFill>
              </a:rPr>
              <a:t>VALIDATE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732520" y="2743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5323A"/>
                </a:solidFill>
              </a:rPr>
              <a:t>Check official action plans and source evidence.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8247888" y="3291840"/>
            <a:ext cx="347472" cy="347472"/>
          </a:xfrm>
          <a:prstGeom prst="ellipse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47888" y="33604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732520" y="32826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3A66"/>
                </a:solidFill>
              </a:rPr>
              <a:t>TARGET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73252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5323A"/>
                </a:solidFill>
              </a:rPr>
              <a:t>Select interventions appropriate to local context.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8247888" y="4069080"/>
            <a:ext cx="347472" cy="347472"/>
          </a:xfrm>
          <a:prstGeom prst="ellipse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47888" y="41376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732520" y="40599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3A66"/>
                </a:solidFill>
              </a:rPr>
              <a:t>MONITOR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732520" y="4297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5323A"/>
                </a:solidFill>
              </a:rPr>
              <a:t>Reassess pollution levels after intervention.</a:t>
            </a:r>
            <a:endParaRPr lang="en-US" sz="890" dirty="0"/>
          </a:p>
        </p:txBody>
      </p:sp>
      <p:sp>
        <p:nvSpPr>
          <p:cNvPr id="24" name="Shape 21"/>
          <p:cNvSpPr/>
          <p:nvPr/>
        </p:nvSpPr>
        <p:spPr>
          <a:xfrm>
            <a:off x="8229600" y="498348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4983480"/>
            <a:ext cx="73152" cy="1051560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94192" y="511149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GOVERNANCE RULE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394192" y="5367528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Ambient pollution data identifies candidate intervention areas; hotspot-specific actions should be grounded in official local action plans or source-apportionment evidence.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229600" y="601675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0" y="606704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DECISION &amp; ACTION</a:t>
            </a:r>
            <a:endParaRPr lang="en-US" sz="7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1202</Words>
  <Application>Microsoft Office PowerPoint</Application>
  <PresentationFormat>Widescreen</PresentationFormat>
  <Paragraphs>193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Air Pollution — Milestone Presentation</dc:title>
  <dc:subject>India Air Pollution Power BI Milestone Presentation</dc:subject>
  <dc:creator>OpenAI</dc:creator>
  <cp:lastModifiedBy>Rushikesh Shirwalkar</cp:lastModifiedBy>
  <cp:revision>5</cp:revision>
  <dcterms:created xsi:type="dcterms:W3CDTF">2026-09-03T13:34:20Z</dcterms:created>
  <dcterms:modified xsi:type="dcterms:W3CDTF">2026-09-07T14:08:03Z</dcterms:modified>
</cp:coreProperties>
</file>