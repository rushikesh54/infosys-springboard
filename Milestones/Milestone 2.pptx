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0" r:id="rId1"/>
  </p:sldMasterIdLst>
  <p:notesMasterIdLst>
    <p:notesMasterId r:id="rId20"/>
  </p:notes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505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t>9/7/2026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26186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2161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t>9/7/2026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E90F28-AFBB-4AB2-AA79-6D3F72ED13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1321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9090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14721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3D6F41-6645-4089-A6BB-7B692A44A4CC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112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34266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20794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9823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948264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5037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39083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5543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1666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943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592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2261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2825525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AD3D17-73C9-402C-91E7-BA73E6829C50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0588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28496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D63035D-22A0-4334-A9AE-2457016C8B4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0219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4584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76808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62163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8213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6369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2196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09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FA43F5B-065E-43CE-B3FD-98C48A6F94D7}" type="datetime1">
              <a:rPr lang="en-US" smtClean="0"/>
              <a:pPr/>
              <a:t>9/7/2026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418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  <p:sldLayoutId id="2147483918" r:id="rId18"/>
    <p:sldLayoutId id="2147483919" r:id="rId19"/>
    <p:sldLayoutId id="2147483920" r:id="rId20"/>
    <p:sldLayoutId id="2147483921" r:id="rId21"/>
    <p:sldLayoutId id="2147483922" r:id="rId22"/>
    <p:sldLayoutId id="2147483923" r:id="rId23"/>
    <p:sldLayoutId id="2147483924" r:id="rId24"/>
    <p:sldLayoutId id="2147483925" r:id="rId25"/>
    <p:sldLayoutId id="2147483926" r:id="rId26"/>
    <p:sldLayoutId id="2147483927" r:id="rId27"/>
    <p:sldLayoutId id="2147483928" r:id="rId2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8146" y="-18288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5324B"/>
          </a:solidFill>
          <a:ln w="12700">
            <a:solidFill>
              <a:srgbClr val="1532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417320"/>
            <a:ext cx="8705088" cy="739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5324B"/>
                </a:solidFill>
              </a:rPr>
              <a:t>INDIA AIR POLLUTION DATASET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76656" y="19933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0B5CAB"/>
                </a:solidFill>
              </a:rPr>
              <a:t>Preprocessing, Data Validation &amp; EDA Preparation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76656" y="3182112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31821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 types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48840" y="3182112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8840" y="324612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Outlier analysis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04488" y="3182112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4488" y="324612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Domain categories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52160" y="3182112"/>
            <a:ext cx="1828800" cy="329184"/>
          </a:xfrm>
          <a:prstGeom prst="roundRect">
            <a:avLst>
              <a:gd name="adj" fmla="val 22222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3246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 engineering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" y="3950208"/>
            <a:ext cx="8046720" cy="5872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43447"/>
                </a:solidFill>
              </a:rPr>
              <a:t>Dataset after cleaning: 432,396 rows × 13 original columns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CDA879-0279-4079-B811-EE686AF720EF}"/>
              </a:ext>
            </a:extLst>
          </p:cNvPr>
          <p:cNvSpPr txBox="1"/>
          <p:nvPr/>
        </p:nvSpPr>
        <p:spPr>
          <a:xfrm>
            <a:off x="9438270" y="5602778"/>
            <a:ext cx="191691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rgbClr val="002060"/>
                </a:solidFill>
              </a:rPr>
              <a:t>Team 3</a:t>
            </a:r>
          </a:p>
          <a:p>
            <a:r>
              <a:rPr lang="en-IN" sz="1500" dirty="0">
                <a:solidFill>
                  <a:srgbClr val="002060"/>
                </a:solidFill>
              </a:rPr>
              <a:t>Rushikesh Shirwalkar</a:t>
            </a:r>
          </a:p>
          <a:p>
            <a:r>
              <a:rPr lang="en-IN" sz="1500" dirty="0">
                <a:solidFill>
                  <a:srgbClr val="002060"/>
                </a:solidFill>
              </a:rPr>
              <a:t>Ajay </a:t>
            </a:r>
            <a:r>
              <a:rPr lang="en-IN" sz="1500" dirty="0" err="1">
                <a:solidFill>
                  <a:srgbClr val="002060"/>
                </a:solidFill>
              </a:rPr>
              <a:t>Seepana</a:t>
            </a:r>
            <a:endParaRPr lang="en-IN" sz="15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2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Dataset &amp; Cleaning Status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Starting point and current state after preprocessing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150876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</a:rPr>
              <a:t>Rows after cleaning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1810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24B"/>
                </a:solidFill>
              </a:rPr>
              <a:t>432,396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1248" y="2276856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Duplicates and invalid-date rows removed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13258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325880"/>
            <a:ext cx="73152" cy="150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1490472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</a:rPr>
              <a:t>Original columns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38728" y="1810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24B"/>
                </a:solidFill>
              </a:rPr>
              <a:t>13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38728" y="2276856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Before feature engineering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325880"/>
            <a:ext cx="73152" cy="15087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490472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</a:rPr>
              <a:t>Duplicate records removed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36208" y="1810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24B"/>
                </a:solidFill>
              </a:rPr>
              <a:t>674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36208" y="2276856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Verified with duplicated() check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132588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32520" y="1325880"/>
            <a:ext cx="73152" cy="15087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33688" y="1490472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</a:rPr>
              <a:t>Invalid-date rows removed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933688" y="181051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24B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933688" y="2276856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Dates such as 31/06/2014 could not be validated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B"/>
                </a:solidFill>
              </a:rPr>
              <a:t>Key cleaning decisions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3648456"/>
            <a:ext cx="5303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>
                <a:solidFill>
                  <a:srgbClr val="243447"/>
                </a:solidFill>
              </a:rPr>
              <a:t>Categorical missing values were filled using logical, group-based methods or “Unknown”.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9808" y="4407408"/>
            <a:ext cx="53035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US" dirty="0">
                <a:solidFill>
                  <a:srgbClr val="243447"/>
                </a:solidFill>
              </a:rPr>
              <a:t>SO₂, NO₂ and RSPM were locally imputed where observations existed; remaining unavailable measurements were preserved</a:t>
            </a:r>
            <a:r>
              <a:rPr lang="en-US" sz="1500" dirty="0">
                <a:solidFill>
                  <a:srgbClr val="243447"/>
                </a:solidFill>
              </a:rPr>
              <a:t>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172200" y="3703320"/>
            <a:ext cx="5074920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>
                <a:solidFill>
                  <a:srgbClr val="243447"/>
                </a:solidFill>
              </a:rPr>
              <a:t>SPM and PM2.5 missingness was retained because it reflects unavailable historical measurements.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72200" y="4535424"/>
            <a:ext cx="5074920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dirty="0">
                <a:solidFill>
                  <a:srgbClr val="243447"/>
                </a:solidFill>
              </a:rPr>
              <a:t>Date was converted to datetime and the four invalid records were removed instead of inventing dates.</a:t>
            </a:r>
            <a:endParaRPr lang="en-US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2DAA2C6-4608-4BBD-8984-9FBACC1A3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75" y="698269"/>
            <a:ext cx="11363497" cy="51622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C89E67-A828-43BC-8465-AFAF12995490}"/>
              </a:ext>
            </a:extLst>
          </p:cNvPr>
          <p:cNvSpPr txBox="1"/>
          <p:nvPr/>
        </p:nvSpPr>
        <p:spPr>
          <a:xfrm>
            <a:off x="307571" y="290945"/>
            <a:ext cx="255358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3294814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2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Data-Type Validation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Incorrect representations were corrected without changing meaning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071480"/>
              </p:ext>
            </p:extLst>
          </p:nvPr>
        </p:nvGraphicFramePr>
        <p:xfrm>
          <a:off x="640080" y="1325880"/>
          <a:ext cx="10972800" cy="236186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3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Column / group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Before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After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stn_code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Int64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Numeric station IDs; nullable integer preserves missing codes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5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datetime64[ns]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for time-based analysis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7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SO₂, NO₂, RSPM, SPM, PM2.5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numeric-like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float64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Confirmed as numeric measurement fields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state, location, agency, type, station name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object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Retained as categorical/text fields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8660" y="4169664"/>
            <a:ext cx="10744200" cy="1143000"/>
          </a:xfrm>
          <a:prstGeom prst="roundRect">
            <a:avLst>
              <a:gd name="adj" fmla="val 6400"/>
            </a:avLst>
          </a:prstGeom>
          <a:solidFill>
            <a:srgbClr val="EEF6FF"/>
          </a:solidFill>
          <a:ln w="12700">
            <a:solidFill>
              <a:srgbClr val="CFE2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32688" y="4224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CAB"/>
                </a:solidFill>
              </a:rPr>
              <a:t>Important interpretation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761488" y="4169664"/>
            <a:ext cx="8183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</a:rPr>
              <a:t>stn_code is stored as an integer for data consistency, but it remains an identifier—not a numerical analytical variable.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54223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855A"/>
                </a:solidFill>
              </a:rPr>
              <a:t>Validation: all observed pollutant values were non-negative (0 negative values across all five pollutant columns).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2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Outlier Analysis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B7280"/>
                </a:solidFill>
              </a:rPr>
              <a:t>IQR used to identify extreme observations; values were not blindly removed</a:t>
            </a:r>
            <a:endParaRPr lang="en-US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167807"/>
              </p:ext>
            </p:extLst>
          </p:nvPr>
        </p:nvGraphicFramePr>
        <p:xfrm>
          <a:off x="731520" y="1325880"/>
          <a:ext cx="6355080" cy="247497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Pollutant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Potential outliers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of measured values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Upper IQR bound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SO₂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23,953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5.54%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26.05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NO₂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19,364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4.48%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59.00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RSPM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14,548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267.17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SPM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5,320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2.68%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573.50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PM2.5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871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9.35%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79.00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7452360" y="1353312"/>
            <a:ext cx="4023360" cy="2880360"/>
          </a:xfrm>
          <a:prstGeom prst="roundRect">
            <a:avLst>
              <a:gd name="adj" fmla="val 2540"/>
            </a:avLst>
          </a:prstGeom>
          <a:solidFill>
            <a:srgbClr val="FFF8EA"/>
          </a:solidFill>
          <a:ln w="12700">
            <a:solidFill>
              <a:srgbClr val="F1D39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54112" y="1645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791F"/>
                </a:solidFill>
              </a:rPr>
              <a:t>Decision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54112" y="199339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324B"/>
                </a:solidFill>
              </a:rPr>
              <a:t>Retained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54112" y="2578608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43447"/>
                </a:solidFill>
              </a:rPr>
              <a:t>High readings can represent genuine environmental events. IQR flags statistical extremes, not necessarily data errors</a:t>
            </a:r>
            <a:r>
              <a:rPr lang="en-US" sz="1400" dirty="0">
                <a:solidFill>
                  <a:srgbClr val="243447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590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324B"/>
                </a:solidFill>
              </a:rPr>
              <a:t>Validation checks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4983480"/>
            <a:ext cx="4846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243447"/>
                </a:solidFill>
              </a:rPr>
              <a:t>No negative concentrations were found</a:t>
            </a:r>
            <a:r>
              <a:rPr lang="en-US" sz="1500" dirty="0">
                <a:solidFill>
                  <a:srgbClr val="243447"/>
                </a:solidFill>
              </a:rPr>
              <a:t>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5394960"/>
            <a:ext cx="52120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US" sz="1600" dirty="0">
                <a:solidFill>
                  <a:srgbClr val="243447"/>
                </a:solidFill>
              </a:rPr>
              <a:t>Extreme records were inspected by state, location, area type and date.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80760" y="4983480"/>
            <a:ext cx="48920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243447"/>
                </a:solidFill>
              </a:rPr>
              <a:t>No evidence justified automatic deletion or median replacement.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2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Extreme Observations – Investigation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</a:rPr>
              <a:t>Examples from the highest recorded values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938358"/>
              </p:ext>
            </p:extLst>
          </p:nvPr>
        </p:nvGraphicFramePr>
        <p:xfrm>
          <a:off x="715992" y="1280160"/>
          <a:ext cx="10805448" cy="2304288"/>
        </p:xfrm>
        <a:graphic>
          <a:graphicData uri="http://schemas.openxmlformats.org/drawingml/2006/table">
            <a:tbl>
              <a:tblPr/>
              <a:tblGrid>
                <a:gridCol w="1570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Pollutant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Maximum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context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SO₂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909.0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Chennai, Tamil Nadu • Industrial Area • 2011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NO₂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876.0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Jaipur, Rajasthan • Residential/Rural/Other • 2014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RSPM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6307.03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Lucknow, Uttar Pradesh • Residential/Rural/Other • 2010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3380.0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Alwar, Rajasthan • Industrial Area • 2001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PM2.5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504.0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Bhubaneswar, Odisha • Residential/Rural/Other • 2014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" y="4553712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EEF7F1"/>
          </a:solidFill>
          <a:ln w="12700">
            <a:solidFill>
              <a:srgbClr val="C8E4D2"/>
            </a:solidFill>
            <a:prstDash val="solid"/>
          </a:ln>
        </p:spPr>
      </p:sp>
      <p:sp>
        <p:nvSpPr>
          <p:cNvPr id="4" name="Text 3"/>
          <p:cNvSpPr/>
          <p:nvPr/>
        </p:nvSpPr>
        <p:spPr>
          <a:xfrm>
            <a:off x="987552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855A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057400" y="4754880"/>
            <a:ext cx="9098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243447"/>
                </a:solidFill>
              </a:rPr>
              <a:t>Extreme measurements are traceable to specific stations, locations and dates. They were retained as potentially meaningful environmental observations.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2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Domain-Based Pollution Categorization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CPCB-referenced bands created for exploratory visualization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980875"/>
              </p:ext>
            </p:extLst>
          </p:nvPr>
        </p:nvGraphicFramePr>
        <p:xfrm>
          <a:off x="685800" y="1234440"/>
          <a:ext cx="7406640" cy="1536192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Variable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Moderate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Very High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SO₂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≤ 40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&gt;40–80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&gt;80–120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&gt;120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NO₂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≤ 40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&gt;40–80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&gt;80–120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&gt;120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PM2.5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≤ 30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&gt;30–60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&gt;60–90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&gt;90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412480" y="1417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AB"/>
                </a:solidFill>
              </a:rPr>
              <a:t>Reference point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0" y="1810512"/>
            <a:ext cx="2560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24B"/>
                </a:solidFill>
              </a:rPr>
              <a:t>SO₂: 80 µg/m³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5324B"/>
                </a:solidFill>
              </a:rPr>
              <a:t>NO₂: 80 µg/m³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5324B"/>
                </a:solidFill>
              </a:rPr>
              <a:t>PM2.5: 60 µg/m³</a:t>
            </a:r>
            <a:endParaRPr lang="en-US" sz="1800" dirty="0"/>
          </a:p>
        </p:txBody>
      </p:sp>
      <p:sp>
        <p:nvSpPr>
          <p:cNvPr id="4" name="Text 4"/>
          <p:cNvSpPr/>
          <p:nvPr/>
        </p:nvSpPr>
        <p:spPr>
          <a:xfrm>
            <a:off x="8412480" y="2999232"/>
            <a:ext cx="2514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43447"/>
                </a:solidFill>
              </a:rPr>
              <a:t>These are CPCB 24-hour NAAQS reference points. The surrounding bands are analytical visualization bands, not official AQI categories.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5324B"/>
                </a:solidFill>
              </a:rPr>
              <a:t>Resulting distributions</a:t>
            </a:r>
            <a:endParaRPr lang="en-US" sz="17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81353"/>
              </p:ext>
            </p:extLst>
          </p:nvPr>
        </p:nvGraphicFramePr>
        <p:xfrm>
          <a:off x="685800" y="4370832"/>
          <a:ext cx="10652760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Variable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category counts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SO₂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425,422 • Moderate 5,766 • High 778 • Very High 348 • Unknown 82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NO₂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371,767 • Moderate 53,293 • High 5,800 • Very High 1,470 • Unknown 66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PM2.5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 4,154 • Moderate 3,656 • High 919 • Very High 585 • Unknown 423,082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324B"/>
                </a:solidFill>
              </a:rPr>
              <a:t>6. Why We Did Not Encode Categories for ML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</a:rPr>
              <a:t>The project goal is EDA and visualization, not model training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90472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</a:rPr>
              <a:t>Categorical encoding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32688" y="1810512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24B"/>
                </a:solidFill>
              </a:rPr>
              <a:t>Not required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32688" y="2276856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Charts, groupby operations and Power BI can use text categories directly.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325880"/>
            <a:ext cx="73152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1490472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</a:rPr>
              <a:t>Feature scaling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81728" y="1810512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24B"/>
                </a:solidFill>
              </a:rPr>
              <a:t>Not required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81728" y="2276856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Scaling is generally unnecessary for descriptive charts and aggregation.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32588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325880"/>
            <a:ext cx="73152" cy="14173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1490472"/>
            <a:ext cx="2889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B7280"/>
                </a:solidFill>
              </a:rPr>
              <a:t>Interpretability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30768" y="1810512"/>
            <a:ext cx="2889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324B"/>
                </a:solidFill>
              </a:rPr>
              <a:t>Preserved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30768" y="2276856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Keeping “Maharashtra” or “Industrial Area” is clearer than replacing them with codes.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3246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5324B"/>
                </a:solidFill>
              </a:rPr>
              <a:t>This decision keeps the dataset readable while still following the mentor’s categorization approach for numerical pollution variables.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60120" y="4160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CAB"/>
                </a:solidFill>
              </a:rPr>
              <a:t>Categorical fields retained as-is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749040" y="41422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43447"/>
                </a:solidFill>
              </a:rPr>
              <a:t>state • location • agency • type • location_monitoring_station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5324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7. Feature Engineering for EDA</a:t>
            </a:r>
            <a:endParaRPr lang="en-US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2648" y="896112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New fields make time-based and completeness analysis easier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948791"/>
              </p:ext>
            </p:extLst>
          </p:nvPr>
        </p:nvGraphicFramePr>
        <p:xfrm>
          <a:off x="685800" y="1234440"/>
          <a:ext cx="10835640" cy="268833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6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feature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Purpose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year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Annual pollution trends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 / month_name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Monthly and seasonal patterns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Quarterly comparisons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season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Winter / Summer / Monsoon / Post-Monsoon analysis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decade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Long-term period comparisons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pollutants_available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Measures how many of the 5 pollutant fields are observed per record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4736592"/>
            <a:ext cx="10698480" cy="868680"/>
          </a:xfrm>
          <a:prstGeom prst="roundRect">
            <a:avLst>
              <a:gd name="adj" fmla="val 8421"/>
            </a:avLst>
          </a:prstGeom>
          <a:solidFill>
            <a:srgbClr val="EEF6FF"/>
          </a:solidFill>
          <a:ln w="12700">
            <a:solidFill>
              <a:srgbClr val="CFE2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50017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CAB"/>
                </a:solidFill>
              </a:rPr>
              <a:t>Season mapping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423160" y="494690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447"/>
                </a:solidFill>
              </a:rPr>
              <a:t>Winter: Dec–Feb  •  Summer: Mar–May  •  Monsoon: Jun–Sep  •  Post-Monsoon: Oct–Nov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3737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94183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500" b="1" dirty="0">
                <a:solidFill>
                  <a:srgbClr val="15324B"/>
                </a:solidFill>
                <a:latin typeface="Calibri"/>
              </a:rPr>
              <a:t>8</a:t>
            </a:r>
            <a:r>
              <a:rPr sz="2500" b="1" dirty="0">
                <a:solidFill>
                  <a:srgbClr val="15324B"/>
                </a:solidFill>
                <a:latin typeface="Calibri"/>
              </a:rPr>
              <a:t>.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47548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Derived fields created from the cleaned datetime field and pollutant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58064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48006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15324B"/>
                </a:solidFill>
                <a:latin typeface="Calibri"/>
              </a:rPr>
              <a:t>Date-derived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783080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0B5CAB"/>
                </a:solidFill>
                <a:latin typeface="Calibri"/>
              </a:rPr>
              <a:t>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783080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43447"/>
                </a:solidFill>
                <a:latin typeface="Calibri"/>
              </a:rPr>
              <a:t>Annual trend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13432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Calibri"/>
              </a:rPr>
              <a:t>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13432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43447"/>
                </a:solidFill>
                <a:latin typeface="Calibri"/>
              </a:rPr>
              <a:t>Monthly comparisons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43784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Calibri"/>
              </a:rPr>
              <a:t>month_name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843784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43447"/>
                </a:solidFill>
                <a:latin typeface="Calibri"/>
              </a:rPr>
              <a:t>Readable chart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374135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Calibri"/>
              </a:rPr>
              <a:t>quarter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74135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43447"/>
                </a:solidFill>
                <a:latin typeface="Calibri"/>
              </a:rPr>
              <a:t>Quarterly grouping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04487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Calibri"/>
              </a:rPr>
              <a:t>season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04487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43447"/>
                </a:solidFill>
                <a:latin typeface="Calibri"/>
              </a:rPr>
              <a:t>Seasonal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434840"/>
            <a:ext cx="1143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Calibri"/>
              </a:rPr>
              <a:t>decade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434840"/>
            <a:ext cx="3017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43447"/>
                </a:solidFill>
                <a:latin typeface="Calibri"/>
              </a:rPr>
              <a:t>Long-term period grouping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04688" y="1143000"/>
            <a:ext cx="45720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15000" y="1353312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5324B"/>
                </a:solidFill>
                <a:latin typeface="Calibri"/>
              </a:rPr>
              <a:t>Season mapping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0" y="1828800"/>
            <a:ext cx="1417320" cy="256032"/>
          </a:xfrm>
          <a:prstGeom prst="roundRect">
            <a:avLst/>
          </a:prstGeom>
          <a:solidFill>
            <a:srgbClr val="0B5CAB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15000" y="1837944"/>
            <a:ext cx="14173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Winter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1837943"/>
            <a:ext cx="1463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43447"/>
                </a:solidFill>
                <a:latin typeface="Calibri"/>
              </a:rPr>
              <a:t>Dec–Feb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395728"/>
            <a:ext cx="1417320" cy="256032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15000" y="2404872"/>
            <a:ext cx="14173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Summer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404872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dirty="0">
                <a:solidFill>
                  <a:srgbClr val="243447"/>
                </a:solidFill>
                <a:latin typeface="Calibri"/>
              </a:rPr>
              <a:t>Mar–May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2962656"/>
            <a:ext cx="1417320" cy="256032"/>
          </a:xfrm>
          <a:prstGeom prst="roundRect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15000" y="2971800"/>
            <a:ext cx="14173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Monsoon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297180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3447"/>
                </a:solidFill>
                <a:latin typeface="Calibri"/>
              </a:rPr>
              <a:t>Jun–Sep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15000" y="3529584"/>
            <a:ext cx="1417320" cy="256032"/>
          </a:xfrm>
          <a:prstGeom prst="roundRect">
            <a:avLst/>
          </a:prstGeom>
          <a:solidFill>
            <a:srgbClr val="B7791F"/>
          </a:solidFill>
          <a:ln w="1270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15000" y="3538728"/>
            <a:ext cx="141732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Post-Monsoon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3538727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243447"/>
                </a:solidFill>
                <a:latin typeface="Calibri"/>
              </a:rPr>
              <a:t>Oct–Nov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425196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B5CAB"/>
                </a:solidFill>
                <a:latin typeface="Calibri"/>
              </a:rPr>
              <a:t>Data-completeness indicator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4590288"/>
            <a:ext cx="3977639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 err="1">
                <a:solidFill>
                  <a:srgbClr val="243447"/>
                </a:solidFill>
                <a:latin typeface="Calibri"/>
              </a:rPr>
              <a:t>pollutants_available</a:t>
            </a:r>
            <a:r>
              <a:rPr sz="1400" b="0" dirty="0">
                <a:solidFill>
                  <a:srgbClr val="243447"/>
                </a:solidFill>
                <a:latin typeface="Calibri"/>
              </a:rPr>
              <a:t> = number of non-null measurements across SO₂, NO₂, RSPM, SPM and PM2.5</a:t>
            </a:r>
            <a:r>
              <a:rPr sz="1200" b="0" dirty="0">
                <a:solidFill>
                  <a:srgbClr val="24344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3A823C-042F-4A9B-9D34-DBD233BD1546}"/>
              </a:ext>
            </a:extLst>
          </p:cNvPr>
          <p:cNvSpPr/>
          <p:nvPr/>
        </p:nvSpPr>
        <p:spPr>
          <a:xfrm>
            <a:off x="228600" y="228600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BE1E6-3A7E-45C7-9636-8E12626AA6F1}"/>
              </a:ext>
            </a:extLst>
          </p:cNvPr>
          <p:cNvSpPr txBox="1"/>
          <p:nvPr/>
        </p:nvSpPr>
        <p:spPr>
          <a:xfrm>
            <a:off x="274320" y="164592"/>
            <a:ext cx="94183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500" b="1" dirty="0">
                <a:solidFill>
                  <a:srgbClr val="15324B"/>
                </a:solidFill>
                <a:latin typeface="Calibri"/>
              </a:rPr>
              <a:t>11</a:t>
            </a:r>
            <a:r>
              <a:rPr sz="2500" b="1" dirty="0">
                <a:solidFill>
                  <a:srgbClr val="15324B"/>
                </a:solidFill>
                <a:latin typeface="Calibri"/>
              </a:rPr>
              <a:t>. Pollutant Measurement Completeness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4B6DD-A50D-4AB6-97A4-B538921B6FB4}"/>
              </a:ext>
            </a:extLst>
          </p:cNvPr>
          <p:cNvSpPr txBox="1"/>
          <p:nvPr/>
        </p:nvSpPr>
        <p:spPr>
          <a:xfrm>
            <a:off x="283464" y="47548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The new availability feature quantifies how many pollutant measurements exist per record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FDB18-14B0-4A57-8E4F-B17BAA83F2A0}"/>
              </a:ext>
            </a:extLst>
          </p:cNvPr>
          <p:cNvSpPr txBox="1"/>
          <p:nvPr/>
        </p:nvSpPr>
        <p:spPr>
          <a:xfrm>
            <a:off x="9555480" y="58064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4047870-6535-46DE-88CA-D2E53EDF728B}"/>
              </a:ext>
            </a:extLst>
          </p:cNvPr>
          <p:cNvSpPr/>
          <p:nvPr/>
        </p:nvSpPr>
        <p:spPr>
          <a:xfrm>
            <a:off x="502920" y="1234440"/>
            <a:ext cx="2240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CE7763-6AEF-4160-9F94-657594197A28}"/>
              </a:ext>
            </a:extLst>
          </p:cNvPr>
          <p:cNvSpPr/>
          <p:nvPr/>
        </p:nvSpPr>
        <p:spPr>
          <a:xfrm>
            <a:off x="502920" y="1234440"/>
            <a:ext cx="64008" cy="182880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A07487-9003-4169-8818-725C9480DE8D}"/>
              </a:ext>
            </a:extLst>
          </p:cNvPr>
          <p:cNvSpPr txBox="1"/>
          <p:nvPr/>
        </p:nvSpPr>
        <p:spPr>
          <a:xfrm>
            <a:off x="685800" y="1444752"/>
            <a:ext cx="1828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6B7280"/>
                </a:solidFill>
                <a:latin typeface="Calibri"/>
                <a:hlinkClick r:id="rId2" action="ppaction://hlinksldjump" tooltip="SO2, NO2, RSPM                                           SO2, NO2, SPM                                    NO2, RSPM, SPM"/>
              </a:rPr>
              <a:t>3 pollutants</a:t>
            </a:r>
            <a:endParaRPr sz="1300" b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78440C-2B95-4CB0-B1CA-9E5FDCCEDD8C}"/>
              </a:ext>
            </a:extLst>
          </p:cNvPr>
          <p:cNvSpPr txBox="1"/>
          <p:nvPr/>
        </p:nvSpPr>
        <p:spPr>
          <a:xfrm>
            <a:off x="685800" y="178308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500" b="1" dirty="0">
                <a:solidFill>
                  <a:srgbClr val="15324B"/>
                </a:solidFill>
                <a:latin typeface="Calibri"/>
              </a:rPr>
              <a:t>229,914</a:t>
            </a:r>
            <a:endParaRPr sz="2500" b="1" dirty="0">
              <a:solidFill>
                <a:srgbClr val="15324B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091E13-B151-419D-8E28-F81CAD00E0D6}"/>
              </a:ext>
            </a:extLst>
          </p:cNvPr>
          <p:cNvSpPr txBox="1"/>
          <p:nvPr/>
        </p:nvSpPr>
        <p:spPr>
          <a:xfrm>
            <a:off x="685800" y="23042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E7490"/>
                </a:solidFill>
                <a:latin typeface="Calibri"/>
              </a:rPr>
              <a:t>53.17%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D5B3A1-19EF-45AF-985B-1001E9946B01}"/>
              </a:ext>
            </a:extLst>
          </p:cNvPr>
          <p:cNvSpPr txBox="1"/>
          <p:nvPr/>
        </p:nvSpPr>
        <p:spPr>
          <a:xfrm>
            <a:off x="685800" y="265176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of 432,396 records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E05F80F-6934-40C3-9654-16A326D866D2}"/>
              </a:ext>
            </a:extLst>
          </p:cNvPr>
          <p:cNvSpPr/>
          <p:nvPr/>
        </p:nvSpPr>
        <p:spPr>
          <a:xfrm>
            <a:off x="2971800" y="1234440"/>
            <a:ext cx="2240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14A6D2-2DAE-4596-B7B6-4362E3F82E80}"/>
              </a:ext>
            </a:extLst>
          </p:cNvPr>
          <p:cNvSpPr/>
          <p:nvPr/>
        </p:nvSpPr>
        <p:spPr>
          <a:xfrm>
            <a:off x="2971800" y="1234440"/>
            <a:ext cx="64008" cy="182880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3D5B6A-3CB6-406D-8958-87B5AD77E112}"/>
              </a:ext>
            </a:extLst>
          </p:cNvPr>
          <p:cNvSpPr txBox="1"/>
          <p:nvPr/>
        </p:nvSpPr>
        <p:spPr>
          <a:xfrm>
            <a:off x="3154680" y="1444752"/>
            <a:ext cx="1828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6B7280"/>
                </a:solidFill>
                <a:latin typeface="Calibri"/>
                <a:hlinkClick r:id="rId2" action="ppaction://hlinksldjump" tooltip="SO2, NO2, RSPM, SPM                           SO2, NO2, RSPM, PM2.5"/>
              </a:rPr>
              <a:t>4 pollutants</a:t>
            </a:r>
            <a:endParaRPr sz="1300" b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695181-6344-49C8-9E43-FA7978872EE4}"/>
              </a:ext>
            </a:extLst>
          </p:cNvPr>
          <p:cNvSpPr txBox="1"/>
          <p:nvPr/>
        </p:nvSpPr>
        <p:spPr>
          <a:xfrm>
            <a:off x="3154680" y="178308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5324B"/>
                </a:solidFill>
                <a:latin typeface="Calibri"/>
              </a:rPr>
              <a:t>201,875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BB4EF8-D24D-4371-907E-41AAB483ECEE}"/>
              </a:ext>
            </a:extLst>
          </p:cNvPr>
          <p:cNvSpPr txBox="1"/>
          <p:nvPr/>
        </p:nvSpPr>
        <p:spPr>
          <a:xfrm>
            <a:off x="3154680" y="23042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F855A"/>
                </a:solidFill>
                <a:latin typeface="Calibri"/>
              </a:rPr>
              <a:t>46.68%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852C71-D4A5-452E-8BAA-E989D67E20D6}"/>
              </a:ext>
            </a:extLst>
          </p:cNvPr>
          <p:cNvSpPr txBox="1"/>
          <p:nvPr/>
        </p:nvSpPr>
        <p:spPr>
          <a:xfrm>
            <a:off x="3154680" y="265176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of 432,396 records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A394CC5-0AA9-43B6-A112-0FBCB2040A51}"/>
              </a:ext>
            </a:extLst>
          </p:cNvPr>
          <p:cNvSpPr/>
          <p:nvPr/>
        </p:nvSpPr>
        <p:spPr>
          <a:xfrm>
            <a:off x="5440680" y="1234440"/>
            <a:ext cx="2240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B0F257-A95A-412C-849C-73C32C29B386}"/>
              </a:ext>
            </a:extLst>
          </p:cNvPr>
          <p:cNvSpPr/>
          <p:nvPr/>
        </p:nvSpPr>
        <p:spPr>
          <a:xfrm>
            <a:off x="5440680" y="1234440"/>
            <a:ext cx="64008" cy="1828800"/>
          </a:xfrm>
          <a:prstGeom prst="rect">
            <a:avLst/>
          </a:prstGeom>
          <a:solidFill>
            <a:srgbClr val="0B5CAB"/>
          </a:solidFill>
          <a:ln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47C104-41F4-4E20-A9FD-B200C63B437F}"/>
              </a:ext>
            </a:extLst>
          </p:cNvPr>
          <p:cNvSpPr txBox="1"/>
          <p:nvPr/>
        </p:nvSpPr>
        <p:spPr>
          <a:xfrm>
            <a:off x="5623560" y="1444752"/>
            <a:ext cx="1828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6B7280"/>
                </a:solidFill>
                <a:latin typeface="Calibri"/>
                <a:hlinkClick r:id="rId2" action="ppaction://hlinksldjump" tooltip="SO2, NO2"/>
              </a:rPr>
              <a:t>2 pollutants</a:t>
            </a:r>
            <a:endParaRPr sz="1300" b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F9B075-1F95-4C33-B64F-5A618692C3D1}"/>
              </a:ext>
            </a:extLst>
          </p:cNvPr>
          <p:cNvSpPr txBox="1"/>
          <p:nvPr/>
        </p:nvSpPr>
        <p:spPr>
          <a:xfrm>
            <a:off x="5623560" y="178308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5324B"/>
                </a:solidFill>
                <a:latin typeface="Calibri"/>
              </a:rPr>
              <a:t>541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2C75A3-1E1A-4846-AC9A-BCF1E43B0B99}"/>
              </a:ext>
            </a:extLst>
          </p:cNvPr>
          <p:cNvSpPr txBox="1"/>
          <p:nvPr/>
        </p:nvSpPr>
        <p:spPr>
          <a:xfrm>
            <a:off x="5623560" y="23042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Calibri"/>
              </a:rPr>
              <a:t>0.13%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A4F238-C341-436B-A56C-320892F612BE}"/>
              </a:ext>
            </a:extLst>
          </p:cNvPr>
          <p:cNvSpPr txBox="1"/>
          <p:nvPr/>
        </p:nvSpPr>
        <p:spPr>
          <a:xfrm>
            <a:off x="5623560" y="265176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of 432,396 records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60DCA8C-794E-4F85-93B9-809DF5D74A76}"/>
              </a:ext>
            </a:extLst>
          </p:cNvPr>
          <p:cNvSpPr/>
          <p:nvPr/>
        </p:nvSpPr>
        <p:spPr>
          <a:xfrm>
            <a:off x="7909560" y="1234440"/>
            <a:ext cx="2240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858E77-4048-4E62-8EDB-621006FDB592}"/>
              </a:ext>
            </a:extLst>
          </p:cNvPr>
          <p:cNvSpPr/>
          <p:nvPr/>
        </p:nvSpPr>
        <p:spPr>
          <a:xfrm>
            <a:off x="7909560" y="1234440"/>
            <a:ext cx="64008" cy="1828800"/>
          </a:xfrm>
          <a:prstGeom prst="rect">
            <a:avLst/>
          </a:prstGeom>
          <a:solidFill>
            <a:srgbClr val="B7791F"/>
          </a:solidFill>
          <a:ln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5732ED-4B26-40D0-A172-9E7F2709EF5A}"/>
              </a:ext>
            </a:extLst>
          </p:cNvPr>
          <p:cNvSpPr txBox="1"/>
          <p:nvPr/>
        </p:nvSpPr>
        <p:spPr>
          <a:xfrm>
            <a:off x="8092440" y="1444752"/>
            <a:ext cx="1828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6B7280"/>
                </a:solidFill>
                <a:latin typeface="Calibri"/>
                <a:hlinkClick r:id="rId2" action="ppaction://hlinksldjump" tooltip="RSPM                                                                 SPM"/>
              </a:rPr>
              <a:t>1 pollutant</a:t>
            </a:r>
            <a:endParaRPr sz="1300" b="1" dirty="0">
              <a:solidFill>
                <a:srgbClr val="6B7280"/>
              </a:solidFill>
              <a:latin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20C7388-CD18-456A-8A1E-96ED0132B577}"/>
              </a:ext>
            </a:extLst>
          </p:cNvPr>
          <p:cNvSpPr txBox="1"/>
          <p:nvPr/>
        </p:nvSpPr>
        <p:spPr>
          <a:xfrm>
            <a:off x="8092440" y="1783080"/>
            <a:ext cx="1828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15324B"/>
                </a:solidFill>
                <a:latin typeface="Calibri"/>
              </a:rPr>
              <a:t>66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EB2F76-3A86-4BA9-B40D-A4B20ACEA175}"/>
              </a:ext>
            </a:extLst>
          </p:cNvPr>
          <p:cNvSpPr txBox="1"/>
          <p:nvPr/>
        </p:nvSpPr>
        <p:spPr>
          <a:xfrm>
            <a:off x="8092440" y="230428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7791F"/>
                </a:solidFill>
                <a:latin typeface="Calibri"/>
              </a:rPr>
              <a:t>0.02%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BAA4D0-DB41-4777-B013-34469E79D0FE}"/>
              </a:ext>
            </a:extLst>
          </p:cNvPr>
          <p:cNvSpPr txBox="1"/>
          <p:nvPr/>
        </p:nvSpPr>
        <p:spPr>
          <a:xfrm>
            <a:off x="8092440" y="265176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6B7280"/>
                </a:solidFill>
                <a:latin typeface="Calibri"/>
              </a:rPr>
              <a:t>of 432,396 records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C9E228A-8A71-462A-A986-6CC98F107FEB}"/>
              </a:ext>
            </a:extLst>
          </p:cNvPr>
          <p:cNvSpPr/>
          <p:nvPr/>
        </p:nvSpPr>
        <p:spPr>
          <a:xfrm>
            <a:off x="713232" y="3520440"/>
            <a:ext cx="9326880" cy="137160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FCB237-B2A4-4A83-AFD9-EC519FB2F13D}"/>
              </a:ext>
            </a:extLst>
          </p:cNvPr>
          <p:cNvSpPr txBox="1"/>
          <p:nvPr/>
        </p:nvSpPr>
        <p:spPr>
          <a:xfrm>
            <a:off x="914400" y="373075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Calibri"/>
              </a:rPr>
              <a:t>Key finding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5490FA-7466-4932-8299-B1F7EE3645B5}"/>
              </a:ext>
            </a:extLst>
          </p:cNvPr>
          <p:cNvSpPr txBox="1"/>
          <p:nvPr/>
        </p:nvSpPr>
        <p:spPr>
          <a:xfrm>
            <a:off x="2057400" y="3685032"/>
            <a:ext cx="7498079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43447"/>
                </a:solidFill>
                <a:latin typeface="Calibri"/>
              </a:rPr>
              <a:t>No observation contains all five pollutant measurements simultaneously. This confirms that pollutant availability differs across the historical monitoring records and should be respected during EDA.</a:t>
            </a:r>
          </a:p>
        </p:txBody>
      </p:sp>
    </p:spTree>
    <p:extLst>
      <p:ext uri="{BB962C8B-B14F-4D97-AF65-F5344CB8AC3E}">
        <p14:creationId xmlns:p14="http://schemas.microsoft.com/office/powerpoint/2010/main" val="3270087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0C7846-A72E-43D6-B5D0-30A3F4EE9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" y="579120"/>
            <a:ext cx="9898380" cy="531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91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94183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500" b="1" dirty="0">
                <a:solidFill>
                  <a:srgbClr val="15324B"/>
                </a:solidFill>
                <a:latin typeface="Calibri"/>
              </a:rPr>
              <a:t>12</a:t>
            </a:r>
            <a:r>
              <a:rPr sz="2500" b="1" dirty="0">
                <a:solidFill>
                  <a:srgbClr val="15324B"/>
                </a:solidFill>
                <a:latin typeface="Calibri"/>
              </a:rPr>
              <a:t>. Feature Selection for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47548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Variables retained based on interpretability, analytical value and redundancy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58064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75004"/>
            <a:ext cx="4617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417320"/>
          </a:xfrm>
          <a:prstGeom prst="rect">
            <a:avLst/>
          </a:prstGeom>
          <a:solidFill>
            <a:srgbClr val="0B5CAB"/>
          </a:solidFill>
          <a:ln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35608"/>
            <a:ext cx="2011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5324B"/>
                </a:solidFill>
                <a:latin typeface="Calibri"/>
              </a:rPr>
              <a:t>Tim</a:t>
            </a:r>
            <a:r>
              <a:rPr sz="1400" b="1" dirty="0">
                <a:solidFill>
                  <a:srgbClr val="15324B"/>
                </a:solidFill>
                <a:latin typeface="Calibri"/>
              </a:rPr>
              <a:t>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1911096"/>
            <a:ext cx="416052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243447"/>
                </a:solidFill>
                <a:latin typeface="Calibri"/>
              </a:rPr>
              <a:t>date • year • month • </a:t>
            </a:r>
            <a:r>
              <a:rPr sz="1600" b="0" dirty="0" err="1">
                <a:solidFill>
                  <a:srgbClr val="243447"/>
                </a:solidFill>
                <a:latin typeface="Calibri"/>
              </a:rPr>
              <a:t>month_name</a:t>
            </a:r>
            <a:r>
              <a:rPr sz="1600" b="0" dirty="0">
                <a:solidFill>
                  <a:srgbClr val="243447"/>
                </a:solidFill>
                <a:latin typeface="Calibri"/>
              </a:rPr>
              <a:t> • quarter • season • decade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234440"/>
            <a:ext cx="4617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0" y="1234440"/>
            <a:ext cx="73152" cy="1417320"/>
          </a:xfrm>
          <a:prstGeom prst="rect">
            <a:avLst/>
          </a:prstGeom>
          <a:solidFill>
            <a:srgbClr val="0E7490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97880" y="1435608"/>
            <a:ext cx="2011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5324B"/>
                </a:solidFill>
                <a:latin typeface="Calibri"/>
              </a:rPr>
              <a:t>Geography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1810512"/>
            <a:ext cx="4160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43447"/>
                </a:solidFill>
                <a:latin typeface="Calibri"/>
              </a:rPr>
              <a:t>state •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971800"/>
            <a:ext cx="4617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971800"/>
            <a:ext cx="73152" cy="1417320"/>
          </a:xfrm>
          <a:prstGeom prst="rect">
            <a:avLst/>
          </a:prstGeom>
          <a:solidFill>
            <a:srgbClr val="2F855A"/>
          </a:solidFill>
          <a:ln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17296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5324B"/>
                </a:solidFill>
                <a:latin typeface="Calibri"/>
              </a:rPr>
              <a:t>Monitoring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47872"/>
            <a:ext cx="41605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43447"/>
                </a:solidFill>
                <a:latin typeface="Calibri"/>
              </a:rPr>
              <a:t>agency •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9884" y="2909245"/>
            <a:ext cx="4617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80" y="2971800"/>
            <a:ext cx="73152" cy="1417320"/>
          </a:xfrm>
          <a:prstGeom prst="rect">
            <a:avLst/>
          </a:prstGeom>
          <a:solidFill>
            <a:srgbClr val="B7791F"/>
          </a:solidFill>
          <a:ln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97880" y="3172968"/>
            <a:ext cx="36576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5324B"/>
                </a:solidFill>
                <a:latin typeface="Calibri"/>
              </a:rPr>
              <a:t>Pollution &amp; </a:t>
            </a:r>
            <a:r>
              <a:rPr sz="1400" b="1" dirty="0">
                <a:solidFill>
                  <a:srgbClr val="15324B"/>
                </a:solidFill>
                <a:latin typeface="Calibri"/>
              </a:rPr>
              <a:t>completeness</a:t>
            </a:r>
            <a:endParaRPr sz="1600" b="1" dirty="0">
              <a:solidFill>
                <a:srgbClr val="15324B"/>
              </a:solidFill>
              <a:latin typeface="Calibr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97880" y="3547872"/>
            <a:ext cx="4160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243447"/>
                </a:solidFill>
                <a:latin typeface="Calibri"/>
              </a:rPr>
              <a:t>so2 • no2 • </a:t>
            </a:r>
            <a:r>
              <a:rPr sz="1400" b="0" dirty="0" err="1">
                <a:solidFill>
                  <a:srgbClr val="243447"/>
                </a:solidFill>
                <a:latin typeface="Calibri"/>
              </a:rPr>
              <a:t>rspm</a:t>
            </a:r>
            <a:r>
              <a:rPr sz="1400" b="0" dirty="0">
                <a:solidFill>
                  <a:srgbClr val="243447"/>
                </a:solidFill>
                <a:latin typeface="Calibri"/>
              </a:rPr>
              <a:t> • </a:t>
            </a:r>
            <a:r>
              <a:rPr sz="1400" b="0" dirty="0" err="1">
                <a:solidFill>
                  <a:srgbClr val="243447"/>
                </a:solidFill>
                <a:latin typeface="Calibri"/>
              </a:rPr>
              <a:t>spm</a:t>
            </a:r>
            <a:r>
              <a:rPr sz="1400" b="0" dirty="0">
                <a:solidFill>
                  <a:srgbClr val="243447"/>
                </a:solidFill>
                <a:latin typeface="Calibri"/>
              </a:rPr>
              <a:t> • pm2_5 • categories • </a:t>
            </a:r>
            <a:r>
              <a:rPr sz="1400" b="0" dirty="0" err="1">
                <a:solidFill>
                  <a:srgbClr val="243447"/>
                </a:solidFill>
                <a:latin typeface="Calibri"/>
              </a:rPr>
              <a:t>pollutants_available</a:t>
            </a:r>
            <a:endParaRPr sz="1400" b="0" dirty="0">
              <a:solidFill>
                <a:srgbClr val="243447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94360" y="4800600"/>
            <a:ext cx="9692640" cy="713232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9E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4983480"/>
            <a:ext cx="91897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dirty="0">
                <a:solidFill>
                  <a:srgbClr val="2F855A"/>
                </a:solidFill>
                <a:latin typeface="Calibri"/>
              </a:rPr>
              <a:t>Reference-only / redundant fields: </a:t>
            </a:r>
            <a:r>
              <a:rPr sz="1150" b="1" dirty="0" err="1">
                <a:solidFill>
                  <a:srgbClr val="2F855A"/>
                </a:solidFill>
                <a:latin typeface="Calibri"/>
              </a:rPr>
              <a:t>stn_code</a:t>
            </a:r>
            <a:r>
              <a:rPr sz="1150" b="1" dirty="0">
                <a:solidFill>
                  <a:srgbClr val="2F855A"/>
                </a:solidFill>
                <a:latin typeface="Calibri"/>
              </a:rPr>
              <a:t> and </a:t>
            </a:r>
            <a:r>
              <a:rPr sz="1150" b="1" dirty="0" err="1">
                <a:solidFill>
                  <a:srgbClr val="2F855A"/>
                </a:solidFill>
                <a:latin typeface="Calibri"/>
              </a:rPr>
              <a:t>location_monitoring_station</a:t>
            </a:r>
            <a:r>
              <a:rPr sz="1150" b="1" dirty="0">
                <a:solidFill>
                  <a:srgbClr val="2F855A"/>
                </a:solidFill>
                <a:latin typeface="Calibri"/>
              </a:rPr>
              <a:t> are identifiers;</a:t>
            </a:r>
            <a:endParaRPr lang="en-IN" sz="1150" b="1" dirty="0">
              <a:solidFill>
                <a:srgbClr val="2F855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94183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500" b="1" dirty="0">
                <a:solidFill>
                  <a:srgbClr val="15324B"/>
                </a:solidFill>
                <a:latin typeface="Calibri"/>
              </a:rPr>
              <a:t>13</a:t>
            </a:r>
            <a:r>
              <a:rPr sz="2500" b="1" dirty="0">
                <a:solidFill>
                  <a:srgbClr val="15324B"/>
                </a:solidFill>
                <a:latin typeface="Calibri"/>
              </a:rPr>
              <a:t>. Correlation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47548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Pairwise Pearson correlations among the five pollutant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58064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600200" y="1325880"/>
            <a:ext cx="1097280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00200" y="1325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5324B"/>
                </a:solidFill>
                <a:latin typeface="Calibri"/>
              </a:rPr>
              <a:t>SO₂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325880"/>
            <a:ext cx="1097280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1325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5324B"/>
                </a:solidFill>
                <a:latin typeface="Calibri"/>
              </a:rPr>
              <a:t>NO₂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325880"/>
            <a:ext cx="1097280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1325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5324B"/>
                </a:solidFill>
                <a:latin typeface="Calibri"/>
              </a:rPr>
              <a:t>RSPM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325880"/>
            <a:ext cx="1097280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1325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5324B"/>
                </a:solidFill>
                <a:latin typeface="Calibri"/>
              </a:rPr>
              <a:t>SPM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9320" y="1325880"/>
            <a:ext cx="1097280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89320" y="13258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5324B"/>
                </a:solidFill>
                <a:latin typeface="Calibri"/>
              </a:rPr>
              <a:t>PM2.5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1892808"/>
            <a:ext cx="1097280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189280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5324B"/>
                </a:solidFill>
                <a:latin typeface="Calibri"/>
              </a:rPr>
              <a:t>SO₂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1892808"/>
            <a:ext cx="1097280" cy="566928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00200" y="189280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Calibri"/>
              </a:rPr>
              <a:t>1.000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1892808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97480" y="189280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0.349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1892808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794760" y="189280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0.164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1892808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189280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0.162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1892808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1892808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0.034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2459736"/>
            <a:ext cx="1097280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245973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5324B"/>
                </a:solidFill>
                <a:latin typeface="Calibri"/>
              </a:rPr>
              <a:t>NO₂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00200" y="2459736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00200" y="245973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0.349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2459736"/>
            <a:ext cx="1097280" cy="566928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697480" y="245973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Calibri"/>
              </a:rPr>
              <a:t>1.000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94760" y="2459736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794760" y="245973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0.352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2459736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92040" y="245973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0.332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9320" y="2459736"/>
            <a:ext cx="1097280" cy="566928"/>
          </a:xfrm>
          <a:prstGeom prst="roundRect">
            <a:avLst/>
          </a:prstGeom>
          <a:solidFill>
            <a:srgbClr val="FFF8EA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89320" y="245973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7791F"/>
                </a:solidFill>
                <a:latin typeface="Calibri"/>
              </a:rPr>
              <a:t>0.506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026664"/>
            <a:ext cx="1097280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30266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5324B"/>
                </a:solidFill>
                <a:latin typeface="Calibri"/>
              </a:rPr>
              <a:t>RSPM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00200" y="3026664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600200" y="30266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0.164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3026664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697480" y="30266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0.352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794760" y="3026664"/>
            <a:ext cx="1097280" cy="566928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794760" y="30266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Calibri"/>
              </a:rPr>
              <a:t>1.000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92040" y="3026664"/>
            <a:ext cx="1097280" cy="566928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92040" y="30266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Calibri"/>
              </a:rPr>
              <a:t>0.757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89320" y="3026664"/>
            <a:ext cx="1097280" cy="566928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89320" y="30266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Calibri"/>
              </a:rPr>
              <a:t>0.752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3593592"/>
            <a:ext cx="1097280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2920" y="35935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5324B"/>
                </a:solidFill>
                <a:latin typeface="Calibri"/>
              </a:rPr>
              <a:t>SPM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600200" y="3593592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600200" y="35935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0.162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97480" y="3593592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697480" y="35935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0.332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794760" y="3593592"/>
            <a:ext cx="1097280" cy="566928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794760" y="35935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Calibri"/>
              </a:rPr>
              <a:t>0.757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92040" y="3593592"/>
            <a:ext cx="1097280" cy="566928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892040" y="35935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Calibri"/>
              </a:rPr>
              <a:t>1.000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89320" y="3593592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989320" y="359359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NaN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02920" y="4160520"/>
            <a:ext cx="1097280" cy="566928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920" y="41605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5324B"/>
                </a:solidFill>
                <a:latin typeface="Calibri"/>
              </a:rPr>
              <a:t>PM2.5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600200" y="4160520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600200" y="41605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0.034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2697480" y="4160520"/>
            <a:ext cx="1097280" cy="566928"/>
          </a:xfrm>
          <a:prstGeom prst="roundRect">
            <a:avLst/>
          </a:prstGeom>
          <a:solidFill>
            <a:srgbClr val="FFF8EA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697480" y="41605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B7791F"/>
                </a:solidFill>
                <a:latin typeface="Calibri"/>
              </a:rPr>
              <a:t>0.506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794760" y="4160520"/>
            <a:ext cx="1097280" cy="566928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794760" y="41605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Calibri"/>
              </a:rPr>
              <a:t>0.752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892040" y="4160520"/>
            <a:ext cx="1097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892040" y="41605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43447"/>
                </a:solidFill>
                <a:latin typeface="Calibri"/>
              </a:rPr>
              <a:t>NaN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989320" y="4160520"/>
            <a:ext cx="1097280" cy="566928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89320" y="41605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F855A"/>
                </a:solidFill>
                <a:latin typeface="Calibri"/>
              </a:rPr>
              <a:t>1.000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452360" y="1371600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5324B"/>
                </a:solidFill>
                <a:latin typeface="Calibri"/>
              </a:rPr>
              <a:t>Key relationships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52360" y="1874519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3447"/>
                </a:solidFill>
                <a:latin typeface="Calibri"/>
              </a:rPr>
              <a:t>RSPM ↔ SPM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26880" y="1856231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2F855A"/>
                </a:solidFill>
                <a:latin typeface="Calibri"/>
              </a:rPr>
              <a:t>0.757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452360" y="2697479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3447"/>
                </a:solidFill>
                <a:latin typeface="Calibri"/>
              </a:rPr>
              <a:t>RSPM ↔ PM2.5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26880" y="2679191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2F855A"/>
                </a:solidFill>
                <a:latin typeface="Calibri"/>
              </a:rPr>
              <a:t>0.752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2360" y="3520439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43447"/>
                </a:solidFill>
                <a:latin typeface="Calibri"/>
              </a:rPr>
              <a:t>NO₂ ↔ PM2.5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26880" y="3502151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B7791F"/>
                </a:solidFill>
                <a:latin typeface="Calibri"/>
              </a:rPr>
              <a:t>0.506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452360" y="4526280"/>
            <a:ext cx="2514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SO₂ shows weaker relationships with particulate pollutants. Correlation here is descriptive, not causal.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94183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500" b="1" dirty="0">
                <a:solidFill>
                  <a:srgbClr val="15324B"/>
                </a:solidFill>
                <a:latin typeface="Calibri"/>
              </a:rPr>
              <a:t>14</a:t>
            </a:r>
            <a:r>
              <a:rPr sz="2500" b="1" dirty="0">
                <a:solidFill>
                  <a:srgbClr val="15324B"/>
                </a:solidFill>
                <a:latin typeface="Calibri"/>
              </a:rPr>
              <a:t>. Important Data-Availability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475488"/>
            <a:ext cx="9052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SPM and PM2.5 cannot be correlated from this dataset because they never co-occur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58064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880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SPM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4708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24B"/>
                </a:solidFill>
                <a:latin typeface="Calibri"/>
              </a:rPr>
              <a:t>198,160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423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measured values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234440"/>
            <a:ext cx="2880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50208" y="148132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Calibri"/>
              </a:rPr>
              <a:t>PM2.5 observations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0208" y="1847088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5324B"/>
                </a:solidFill>
                <a:latin typeface="Calibri"/>
              </a:rPr>
              <a:t>9,314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24231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measured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234440"/>
            <a:ext cx="3246120" cy="1965960"/>
          </a:xfrm>
          <a:prstGeom prst="roundRect">
            <a:avLst/>
          </a:prstGeom>
          <a:solidFill>
            <a:srgbClr val="FFF8EA"/>
          </a:solidFill>
          <a:ln w="12700">
            <a:solidFill>
              <a:srgbClr val="F1D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9168" y="14813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7791F"/>
                </a:solidFill>
                <a:latin typeface="Calibri"/>
              </a:rPr>
              <a:t>Overlapping observations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847088"/>
            <a:ext cx="2560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B7791F"/>
                </a:solidFill>
                <a:latin typeface="Calibri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2316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therefore correlation = NaN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11880"/>
            <a:ext cx="9372600" cy="114300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FE2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822191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CAB"/>
                </a:solidFill>
                <a:latin typeface="Calibri"/>
              </a:rPr>
              <a:t>Interpretation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776472"/>
            <a:ext cx="7406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43447"/>
                </a:solidFill>
                <a:latin typeface="Calibri"/>
              </a:rPr>
              <a:t>This is a data-availability limitation, not a pandas error. We should not impute one pollutant simply to manufacture overlapping observations or force a correlation value.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493B6D-A183-4A0A-99EA-88B32F520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470"/>
            <a:ext cx="12275820" cy="51817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67DE3E-2BD1-4B53-B54B-E84A56068AE2}"/>
              </a:ext>
            </a:extLst>
          </p:cNvPr>
          <p:cNvSpPr txBox="1"/>
          <p:nvPr/>
        </p:nvSpPr>
        <p:spPr>
          <a:xfrm>
            <a:off x="358140" y="234434"/>
            <a:ext cx="983742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View After Milestone 2 processing</a:t>
            </a:r>
            <a:endParaRPr lang="en-IN" sz="25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441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228600"/>
            <a:ext cx="82296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941832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500" b="1" dirty="0">
                <a:solidFill>
                  <a:srgbClr val="15324B"/>
                </a:solidFill>
                <a:latin typeface="Calibri"/>
              </a:rPr>
              <a:t>15</a:t>
            </a:r>
            <a:r>
              <a:rPr sz="2500" b="1" dirty="0">
                <a:solidFill>
                  <a:srgbClr val="15324B"/>
                </a:solidFill>
                <a:latin typeface="Calibri"/>
              </a:rPr>
              <a:t>. Analysis Dataset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475488"/>
            <a:ext cx="9052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B7280"/>
                </a:solidFill>
                <a:latin typeface="Calibri"/>
              </a:rPr>
              <a:t>Current state after feature engineering and selection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55480" y="5806440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9372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26187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43447"/>
                </a:solidFill>
                <a:latin typeface="Calibri"/>
              </a:rPr>
              <a:t>Feature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216152"/>
            <a:ext cx="1645920" cy="310896"/>
          </a:xfrm>
          <a:prstGeom prst="roundRect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01000" y="1248156"/>
            <a:ext cx="1645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55648"/>
            <a:ext cx="9372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874519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43447"/>
                </a:solidFill>
                <a:latin typeface="Calibri"/>
              </a:rPr>
              <a:t>Data completeness indicator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828800"/>
            <a:ext cx="1645920" cy="310896"/>
          </a:xfrm>
          <a:prstGeom prst="roundRect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1860804"/>
            <a:ext cx="1645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368296"/>
            <a:ext cx="9372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487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43447"/>
                </a:solidFill>
                <a:latin typeface="Calibri"/>
              </a:rPr>
              <a:t>Feature selection for EDA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441448"/>
            <a:ext cx="1645920" cy="310896"/>
          </a:xfrm>
          <a:prstGeom prst="roundRect">
            <a:avLst/>
          </a:prstGeom>
          <a:solidFill>
            <a:srgbClr val="2F855A"/>
          </a:solidFill>
          <a:ln w="12700">
            <a:solidFill>
              <a:srgbClr val="2F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01000" y="2473452"/>
            <a:ext cx="1645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80944"/>
            <a:ext cx="9372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3099816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43447"/>
                </a:solidFill>
                <a:latin typeface="Calibri"/>
              </a:rPr>
              <a:t>Categorical encoding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054096"/>
            <a:ext cx="1645920" cy="310896"/>
          </a:xfrm>
          <a:prstGeom prst="roundRect">
            <a:avLst/>
          </a:prstGeom>
          <a:solidFill>
            <a:srgbClr val="0B5CAB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01000" y="3086100"/>
            <a:ext cx="1645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Not required for EDA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93592"/>
            <a:ext cx="9372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3712464"/>
            <a:ext cx="5029200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243447"/>
                </a:solidFill>
                <a:latin typeface="Calibri"/>
              </a:rPr>
              <a:t>Feature s</a:t>
            </a:r>
            <a:r>
              <a:rPr lang="en-US" sz="1250" b="1" dirty="0">
                <a:solidFill>
                  <a:srgbClr val="243447"/>
                </a:solidFill>
                <a:latin typeface="Calibri"/>
              </a:rPr>
              <a:t>election</a:t>
            </a:r>
            <a:endParaRPr sz="1250" b="1" dirty="0">
              <a:solidFill>
                <a:srgbClr val="243447"/>
              </a:solidFill>
              <a:latin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01000" y="3666744"/>
            <a:ext cx="1645920" cy="310896"/>
          </a:xfrm>
          <a:prstGeom prst="roundRect">
            <a:avLst/>
          </a:prstGeom>
          <a:solidFill>
            <a:srgbClr val="0B5CAB"/>
          </a:solidFill>
          <a:ln w="12700">
            <a:solidFill>
              <a:srgbClr val="0B5C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01000" y="3698748"/>
            <a:ext cx="1645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Not required for EDA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06240"/>
            <a:ext cx="93726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325112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43447"/>
                </a:solidFill>
                <a:latin typeface="Calibri"/>
              </a:rPr>
              <a:t>Visualization milestone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01000" y="4279392"/>
            <a:ext cx="1645920" cy="310896"/>
          </a:xfrm>
          <a:prstGeom prst="roundRect">
            <a:avLst/>
          </a:prstGeom>
          <a:solidFill>
            <a:srgbClr val="B7791F"/>
          </a:solidFill>
          <a:ln w="1270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01000" y="4311396"/>
            <a:ext cx="164592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128450-1145-47ED-BA45-E685FA2222F7}"/>
              </a:ext>
            </a:extLst>
          </p:cNvPr>
          <p:cNvSpPr txBox="1"/>
          <p:nvPr/>
        </p:nvSpPr>
        <p:spPr>
          <a:xfrm>
            <a:off x="434340" y="1188720"/>
            <a:ext cx="1159002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Created meaningful time-based features: </a:t>
            </a:r>
            <a:r>
              <a:rPr lang="en-US" sz="1600" b="1" dirty="0"/>
              <a:t>year, month, quarter, season, </a:t>
            </a:r>
            <a:r>
              <a:rPr lang="en-US" sz="1600" dirty="0"/>
              <a:t>and</a:t>
            </a:r>
            <a:r>
              <a:rPr lang="en-US" sz="1600" b="1" dirty="0"/>
              <a:t> decade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Created </a:t>
            </a:r>
            <a:r>
              <a:rPr lang="en-US" sz="1600" b="1" dirty="0" err="1"/>
              <a:t>pollutants_available</a:t>
            </a:r>
            <a:r>
              <a:rPr lang="en-US" sz="1600" b="1" dirty="0"/>
              <a:t> </a:t>
            </a:r>
            <a:r>
              <a:rPr lang="en-US" sz="1600" dirty="0"/>
              <a:t>to measure data completeness for each observation.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Developed domain-based </a:t>
            </a:r>
            <a:r>
              <a:rPr lang="en-US" sz="1600" b="1" dirty="0"/>
              <a:t>pollution categories for SO₂, NO₂, and PM2.5</a:t>
            </a:r>
            <a:r>
              <a:rPr lang="en-US" sz="1600" dirty="0"/>
              <a:t> using CPCB-referenced thresholds.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Selected relevant variables for exploratory data analysis and visualization.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Identified strong relationships between </a:t>
            </a:r>
            <a:r>
              <a:rPr lang="en-US" sz="1600" b="1" dirty="0"/>
              <a:t>RSPM–SPM </a:t>
            </a:r>
            <a:r>
              <a:rPr lang="en-US" sz="1600" dirty="0"/>
              <a:t>and </a:t>
            </a:r>
            <a:r>
              <a:rPr lang="en-US" sz="1600" b="1" dirty="0"/>
              <a:t>RSPM–PM2.5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Identified an important data limitation: </a:t>
            </a:r>
            <a:r>
              <a:rPr lang="en-US" sz="1600" b="1" dirty="0"/>
              <a:t>SPM and PM2.5 have no overlapping observations</a:t>
            </a:r>
            <a:r>
              <a:rPr lang="en-US" sz="1600" dirty="0"/>
              <a:t>, so their </a:t>
            </a:r>
            <a:r>
              <a:rPr lang="en-US" sz="1600" b="1" dirty="0"/>
              <a:t>direct correlation cannot be calculated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Retained valid extreme pollution observations after outlier investigation rather than removing potentially genuine environmental events.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Dataset is now analysis-ready for the next milestone: Visualization and EDA.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0084E-E295-48E0-A6DC-F38A0937FA01}"/>
              </a:ext>
            </a:extLst>
          </p:cNvPr>
          <p:cNvSpPr txBox="1"/>
          <p:nvPr/>
        </p:nvSpPr>
        <p:spPr>
          <a:xfrm>
            <a:off x="594360" y="411480"/>
            <a:ext cx="78867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16.Conclusion</a:t>
            </a:r>
          </a:p>
        </p:txBody>
      </p:sp>
    </p:spTree>
    <p:extLst>
      <p:ext uri="{BB962C8B-B14F-4D97-AF65-F5344CB8AC3E}">
        <p14:creationId xmlns:p14="http://schemas.microsoft.com/office/powerpoint/2010/main" val="815003154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134</TotalTime>
  <Words>1388</Words>
  <Application>Microsoft Office PowerPoint</Application>
  <PresentationFormat>Widescreen</PresentationFormat>
  <Paragraphs>346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Arial</vt:lpstr>
      <vt:lpstr>Calibri</vt:lpstr>
      <vt:lpstr>Felix Titling</vt:lpstr>
      <vt:lpstr>Goudy Old Style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Air Pollution Dataset – Preprocessing Progress</dc:title>
  <dc:subject>India Air Pollution Dataset – preprocessing progress</dc:subject>
  <dc:creator>OpenAI</dc:creator>
  <cp:lastModifiedBy>Rushikesh Shirwalkar</cp:lastModifiedBy>
  <cp:revision>11</cp:revision>
  <dcterms:created xsi:type="dcterms:W3CDTF">2026-08-12T13:26:26Z</dcterms:created>
  <dcterms:modified xsi:type="dcterms:W3CDTF">2026-09-07T14:10:17Z</dcterms:modified>
</cp:coreProperties>
</file>